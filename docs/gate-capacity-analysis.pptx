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网关服务负载能力分析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640080" y="2651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Gate Service Capacity Analysis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40080" y="3291840"/>
            <a:ext cx="109728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35204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Netty 4.1  ·  TCP 长连接  ·  gRPC 双向流  ·  Java 21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架构概述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8046720" cy="4389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网络框架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834640" y="114300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Netty 4.1 NIO，TCP 长连接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1581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协议格式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834640" y="1581912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自定义二进制（16B 头 + protobuf 体）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020824"/>
            <a:ext cx="8046720" cy="4389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2082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后端通信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34640" y="2020824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gRPC 双向流（per gameId）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45973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连接上限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34640" y="2459736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可配置（默认 10,000）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2898648"/>
            <a:ext cx="8046720" cy="4389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986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消息体上限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834640" y="2898648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64 KB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33756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心跳超时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834640" y="3337560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60 秒读空闲断连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3776472"/>
            <a:ext cx="8046720" cy="438912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7647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会话管理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834640" y="3776472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ConcurrentHashMap&lt;Long, Channel&gt;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1520" y="42153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离线消息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34640" y="4215384"/>
            <a:ext cx="5669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Redis Stream，200 条阈值兜底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709160"/>
            <a:ext cx="804672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TCP Pipeline:  IdleStateHandler → TcpHeartbeatHandler → GameMessageDecoder → GameMessageEncoder → TcpMessageHandler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单连接内存开销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43000"/>
            <a:ext cx="29260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43000"/>
            <a:ext cx="292608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 KB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每连接稳态内存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40480" y="1143000"/>
            <a:ext cx="4937760" cy="384048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3977640" y="11430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组成部分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0" y="114300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估算大小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0" y="1527048"/>
            <a:ext cx="4937760" cy="38404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2" name="Text 10"/>
          <p:cNvSpPr/>
          <p:nvPr/>
        </p:nvSpPr>
        <p:spPr>
          <a:xfrm>
            <a:off x="3977640" y="15270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Netty Channel + 内部结构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0" y="15270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~3 KB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977640" y="19110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Pipeline Handlers (4个)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0" y="191109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~2 KB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0" y="2295144"/>
            <a:ext cx="4937760" cy="38404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7" name="Text 15"/>
          <p:cNvSpPr/>
          <p:nvPr/>
        </p:nvSpPr>
        <p:spPr>
          <a:xfrm>
            <a:off x="3977640" y="2295144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OS TCP 缓冲区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0" y="2295144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~40-80 KB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977640" y="2679192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Netty Direct Memory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0" y="267919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~8-16 KB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0" y="3063240"/>
            <a:ext cx="4937760" cy="38404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2" name="Text 20"/>
          <p:cNvSpPr/>
          <p:nvPr/>
        </p:nvSpPr>
        <p:spPr>
          <a:xfrm>
            <a:off x="3977640" y="30632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Channel Attributes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5200" y="306324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~0.5 KB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77640" y="344728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PlayerService Entry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0" y="344728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~0.1 KB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840480" y="3831336"/>
            <a:ext cx="4937760" cy="384048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3977640" y="38313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RateLimiter Window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0" y="38313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~0.1 KB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JVM 固定开销约 500-800 MB（Spring Boot + Redis + gRPC + 监控）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709160"/>
            <a:ext cx="804672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离线消息存储于 Redis Stream，不占用 Gate 堆内存。200 条阈值 + relogin 兜底机制确保内存安全。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单网关节点性能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246888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377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70,000+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54864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最大并发连接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3474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TCP 长连接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37560" y="137160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37560" y="1371600"/>
            <a:ext cx="246888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7373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37560" y="2377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100,000+</a:t>
            </a:r>
            <a:endParaRPr lang="en-US" sz="3600" dirty="0"/>
          </a:p>
        </p:txBody>
      </p:sp>
      <p:sp>
        <p:nvSpPr>
          <p:cNvPr id="14" name="Text 10"/>
          <p:cNvSpPr/>
          <p:nvPr/>
        </p:nvSpPr>
        <p:spPr>
          <a:xfrm>
            <a:off x="333756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消息吞吐 msg/s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337560" y="3474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纯转发场景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126480" y="1371600"/>
            <a:ext cx="246888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371600"/>
            <a:ext cx="2468880" cy="54864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73736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23774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1ms</a:t>
            </a:r>
            <a:endParaRPr lang="en-US" sz="3600" dirty="0"/>
          </a:p>
        </p:txBody>
      </p:sp>
      <p:sp>
        <p:nvSpPr>
          <p:cNvPr id="20" name="Text 15"/>
          <p:cNvSpPr/>
          <p:nvPr/>
        </p:nvSpPr>
        <p:spPr>
          <a:xfrm>
            <a:off x="6126480" y="31089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转发延迟 P99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126480" y="34747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网关内处理时间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协议: Binary TCP  |  后端: gRPC 双向流  |  单连接: ~60 KB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阿里云 ECS 配置与负载能力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机型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10972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0972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连接容量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0" y="10972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吞吐 msg/s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035040" y="10972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适用场景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80960" y="10972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月费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645920"/>
            <a:ext cx="804672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ecs.c7.large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03120" y="1645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2C / 4G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16459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5K - 8K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8K - 15K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0" y="16459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开发测试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0960" y="16459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¥200-400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194560"/>
            <a:ext cx="804672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ecs.c7.xlarge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219456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4C / 8G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00400" y="21945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15K - 25K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219456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25K - 50K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2194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生产推荐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680960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¥500-800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275320" y="2194560"/>
            <a:ext cx="320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40AF"/>
                </a:solidFill>
              </a:rPr>
              <a:t>★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2743200"/>
            <a:ext cx="804672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743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ecs.c7.2xlarge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03120" y="274320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8C / 16G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0" y="2743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40K - 70K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27432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60K - 120K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035040" y="27432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中大型游戏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680960" y="27432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¥1K-1.6K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3291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ecs.c7.4xlarge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103120" y="329184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16C / 32G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00400" y="32918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100K - 150K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0" y="329184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150K - 300K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35040" y="3291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大型游戏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680960" y="32918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¥2K-3.5K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48640" y="3840480"/>
            <a:ext cx="8046720" cy="54864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ecs.c7.8xlarge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103120" y="384048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32C / 64G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200400" y="38404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200K+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0" y="3840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300K+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035040" y="38404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超大规模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680960" y="3840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¥4K-7K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★ 推荐: 4C/8G 是性价比甜点，单机可承载 1.5-2.5 万连接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瓶颈优先级分析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94360" y="123444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2344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1430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468880" y="1307592"/>
            <a:ext cx="5486400" cy="228600"/>
          </a:xfrm>
          <a:prstGeom prst="rect">
            <a:avLst/>
          </a:prstGeom>
          <a:solidFill>
            <a:srgbClr val="DC2626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3075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每连接 ~60KB，决定最大连接数上限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4360" y="1828800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828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173736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文件描述符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468880" y="1901952"/>
            <a:ext cx="4663440" cy="228600"/>
          </a:xfrm>
          <a:prstGeom prst="rect">
            <a:avLst/>
          </a:prstGeom>
          <a:solidFill>
            <a:srgbClr val="D97706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560320" y="19019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每连接 = 1 FD，需 sysctl 调优至 100000+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423160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97280" y="233172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468880" y="2496312"/>
            <a:ext cx="3566160" cy="228600"/>
          </a:xfrm>
          <a:prstGeom prst="rect">
            <a:avLst/>
          </a:prstGeom>
          <a:solidFill>
            <a:srgbClr val="D97706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2560320" y="249631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Netty 事件循环 + protobuf 编解码 + 限流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301752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97280" y="292608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网络带宽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2468880" y="3090672"/>
            <a:ext cx="2400300" cy="228600"/>
          </a:xfrm>
          <a:prstGeom prst="rect">
            <a:avLst/>
          </a:prstGeom>
          <a:solidFill>
            <a:srgbClr val="059669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2560320" y="309067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5万连接 × 300B ≈ 15MB/s，远低于网卡能力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94360" y="361188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611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97280" y="352044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后端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468880" y="3685032"/>
            <a:ext cx="1714500" cy="228600"/>
          </a:xfrm>
          <a:prstGeom prst="rect">
            <a:avLst/>
          </a:prstGeom>
          <a:solidFill>
            <a:srgbClr val="059669">
              <a:alpha val="7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2560320" y="36850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单 gameId 一条双向流，通常不是瓶颈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" y="420624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97280" y="4114800"/>
            <a:ext cx="1280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全局限流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2468880" y="4279392"/>
            <a:ext cx="1234440" cy="228600"/>
          </a:xfrm>
          <a:prstGeom prst="rect">
            <a:avLst/>
          </a:prstGeom>
          <a:solidFill>
            <a:srgbClr val="0891B2">
              <a:alpha val="7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2560320" y="42793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默认 10000 req/s，需按连接数调高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4754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纯转发场景下，CPU 和带宽通常不是瓶颈。内存和 FD 是首先需要关注的资源。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推荐部署方案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3657600" cy="5943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场景: 10 Game 服 · 总 CCU ≤ 30,000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480560" y="1097280"/>
            <a:ext cx="4114800" cy="5943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7" name="Text 5"/>
          <p:cNvSpPr/>
          <p:nvPr/>
        </p:nvSpPr>
        <p:spPr>
          <a:xfrm>
            <a:off x="4663440" y="10972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方案: 2 × ecs.c7.xlarge（4C / 8G）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00400" y="1965960"/>
            <a:ext cx="2743200" cy="4572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9659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SLB (TCP 四层负载均衡)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0" y="2423160"/>
            <a:ext cx="0" cy="3657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303520" y="2423160"/>
            <a:ext cx="0" cy="36576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97280" y="2788920"/>
            <a:ext cx="32004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1097280" y="2788920"/>
            <a:ext cx="73152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137160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Gate-01  (4C/8G)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G1  G2  G3  G4  G5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788920"/>
            <a:ext cx="32004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788920"/>
            <a:ext cx="73152" cy="82296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5120640" y="2834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Gate-02  (4C/8G)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120640" y="3200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G4  G5  G6  G7  G8  G9  G10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7280" y="3703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40A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↑ G4、G5 双入口，任一 Gate 故障不丢失整个 Game ↑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804672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gate.max-connections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56032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ratelimit.global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20,000/s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JVM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-Xmx4g -XX:+UseZGC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583680" y="42976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月成本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83680" y="45262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~¥1,000-1,600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容量验证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188720"/>
            <a:ext cx="73152" cy="7772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344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正常运行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5727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连接: 15,000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463040"/>
            <a:ext cx="45720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9" name="Shape 7"/>
          <p:cNvSpPr/>
          <p:nvPr/>
        </p:nvSpPr>
        <p:spPr>
          <a:xfrm>
            <a:off x="3657600" y="1463040"/>
            <a:ext cx="2286000" cy="256032"/>
          </a:xfrm>
          <a:prstGeom prst="rect">
            <a:avLst/>
          </a:prstGeom>
          <a:solidFill>
            <a:srgbClr val="059669">
              <a:alpha val="7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035040" y="14173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12070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~1.7 GB / 8 GB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1031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103120"/>
            <a:ext cx="73152" cy="7772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148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故障兜底 (单机扛全部)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24871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连接: 30,000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2377440"/>
            <a:ext cx="45720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0" y="2377440"/>
            <a:ext cx="2743200" cy="256032"/>
          </a:xfrm>
          <a:prstGeom prst="rect">
            <a:avLst/>
          </a:prstGeom>
          <a:solidFill>
            <a:srgbClr val="0891B2">
              <a:alpha val="7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3317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657600" y="21214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~2.6 GB / 8 GB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30175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017520"/>
            <a:ext cx="73152" cy="7772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063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极端突发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4015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连接: 40,000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0" y="3291840"/>
            <a:ext cx="45720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5" name="Shape 23"/>
          <p:cNvSpPr/>
          <p:nvPr/>
        </p:nvSpPr>
        <p:spPr>
          <a:xfrm>
            <a:off x="3657600" y="3291840"/>
            <a:ext cx="3291840" cy="256032"/>
          </a:xfrm>
          <a:prstGeom prst="rect">
            <a:avLst/>
          </a:prstGeom>
          <a:solidFill>
            <a:srgbClr val="D97706">
              <a:alpha val="7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0" y="324612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657600" y="3035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~3.2 GB / 8 GB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3931920"/>
            <a:ext cx="73152" cy="7772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39776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理论极限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2960" y="431596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连接: 70,000+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0" y="4206240"/>
            <a:ext cx="4572000" cy="256032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0" y="4206240"/>
            <a:ext cx="5760720" cy="256032"/>
          </a:xfrm>
          <a:prstGeom prst="rect">
            <a:avLst/>
          </a:prstGeom>
          <a:solidFill>
            <a:srgbClr val="94A3B8">
              <a:alpha val="75000"/>
            </a:srgbClr>
          </a:solidFill>
          <a:ln/>
        </p:spPr>
      </p:sp>
      <p:pic>
        <p:nvPicPr>
          <p:cNvPr id="3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709160"/>
            <a:ext cx="228600" cy="2286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68680" y="4709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任意一台故障，另一台可独立承载全部流量，具备 100% 容灾冗余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弹性扩展策略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731520" cy="36576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457200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737360" y="1097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10972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06240" y="10972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508760"/>
            <a:ext cx="457200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50876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1K - 5K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737360" y="15087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c7.large 2C/4G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383280" y="150876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1-2 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06240" y="15087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¥400-800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1920240"/>
            <a:ext cx="4572000" cy="4114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92024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5K - 30K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737360" y="19202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c7.xlarge 4C/8G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92024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 台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06240" y="192024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¥1K-1.6K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331720"/>
            <a:ext cx="457200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3317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30K - 80K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737360" y="2331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c7.2xlarge 8C/16G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23317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2-3 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06240" y="233172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¥2K-5K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274320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80K - 150K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37360" y="2743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c7.4xlarge 16C/32G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274320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2-3 台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06240" y="27432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¥4K-10K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154680"/>
            <a:ext cx="4572000" cy="41148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154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150K+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737360" y="31546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c7.8xlarge 32C/64G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315468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3+ 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206240" y="315468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¥12K+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0" y="1097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扩容触发条件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5486400" y="1600200"/>
            <a:ext cx="3291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5623560" y="16002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连接数 &gt; 75%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223760" y="16002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加一台 Gate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486400" y="2103120"/>
            <a:ext cx="3291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623560" y="21031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&gt; 60%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23760" y="21031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升级机型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0" y="2606040"/>
            <a:ext cx="3291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623560" y="26060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堆内存 &gt; 87%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223760" y="260604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升级机型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486400" y="3108960"/>
            <a:ext cx="3291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623560" y="31089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gRPC P99 &gt; 50ms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223760" y="310896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→ 扩容 Game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48640" y="3977640"/>
            <a:ext cx="8046720" cy="2743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7" name="Shape 45"/>
          <p:cNvSpPr/>
          <p:nvPr/>
        </p:nvSpPr>
        <p:spPr>
          <a:xfrm>
            <a:off x="548640" y="4160520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48" name="Text 46"/>
          <p:cNvSpPr/>
          <p:nvPr/>
        </p:nvSpPr>
        <p:spPr>
          <a:xfrm>
            <a:off x="54864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96012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启动新 Gate 实例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2331720" y="4160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651760" y="4160520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2" name="Text 50"/>
          <p:cNvSpPr/>
          <p:nvPr/>
        </p:nvSpPr>
        <p:spPr>
          <a:xfrm>
            <a:off x="265176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306324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Redis 自动注册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434840" y="4160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4754880" y="4160520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56" name="Text 54"/>
          <p:cNvSpPr/>
          <p:nvPr/>
        </p:nvSpPr>
        <p:spPr>
          <a:xfrm>
            <a:off x="475488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516636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SLB 发现并分流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537960" y="4160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</a:rPr>
              <a:t>→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858000" y="4160520"/>
            <a:ext cx="320040" cy="32004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60" name="Text 58"/>
          <p:cNvSpPr/>
          <p:nvPr/>
        </p:nvSpPr>
        <p:spPr>
          <a:xfrm>
            <a:off x="6858000" y="41605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26948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秒内生效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548640" y="46634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无需停服  ·  不改代码  ·  不迁移数据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性能总结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单节点可维持 7 万以上并发连接，消息吞吐达 10 万+/秒，网关内处理延迟控制在亚毫秒级。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804672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03120"/>
            <a:ext cx="54864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1031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个游戏服、3 万峰值并发场景下，仅需 2 台 4 核 8G 云服务器，单机水位不超过 30%，具备 100% 容灾冗余。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804672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3017520"/>
            <a:ext cx="54864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175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无状态水平扩展，N:M 灵活编排。增减网关节点无需停服，新节点上线后 10 秒内自动接入集群。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931920"/>
            <a:ext cx="54864" cy="7315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9319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网关层月成本约 1,500 元，平均每万人每月 500 元，包含完整容灾冗余。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* 性能数据基于 Netty 4.1 + Java 21 + ZGC 在 4vCPU/8GB 环境下的架构分析与行业基准，实际数值以压测为准。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46720" y="4754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网关服务负载能力分析</dc:title>
  <dc:subject>PptxGenJS Presentation</dc:subject>
  <dc:creator>GateDemo Team</dc:creator>
  <cp:lastModifiedBy>GateDemo Team</cp:lastModifiedBy>
  <cp:revision>1</cp:revision>
  <dcterms:created xsi:type="dcterms:W3CDTF">2026-04-17T03:25:35Z</dcterms:created>
  <dcterms:modified xsi:type="dcterms:W3CDTF">2026-04-17T03:25:35Z</dcterms:modified>
</cp:coreProperties>
</file>